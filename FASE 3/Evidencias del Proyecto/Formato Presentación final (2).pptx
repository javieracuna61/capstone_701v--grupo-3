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DwPRBOtJ3EjBRRqGNJnMHQQ6p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lay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cuelaIT Duoc UC - Escuela de Informática y Telecomunicaciones Duoc UC - Duoc  UC | LinkedIn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9303" y="1119116"/>
            <a:ext cx="8854540" cy="221363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9304" y="3429000"/>
            <a:ext cx="8921672" cy="17133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PROYECTO “LicitApp”</a:t>
            </a:r>
            <a:br>
              <a:rPr b="0" i="0" lang="es-CL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es-CL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PRESENTACIÓN FINAL CAPSTONE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74F5D"/>
                </a:gs>
                <a:gs pos="50000">
                  <a:srgbClr val="072743"/>
                </a:gs>
                <a:gs pos="100000">
                  <a:srgbClr val="03213D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s-CL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Isai Villalobos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Char char="•"/>
              </a:pPr>
              <a:r>
                <a:rPr b="0" i="0" lang="es-CL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Product Owner / Scrum Master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Char char="•"/>
              </a:pPr>
              <a:r>
                <a:rPr b="0" i="0" lang="es-CL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Responsable de requisitos, documentación, coordinación y validación del proyecto.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18466" y="160910"/>
              <a:ext cx="1561675" cy="1037726"/>
            </a:xfrm>
            <a:prstGeom prst="roundRect">
              <a:avLst>
                <a:gd fmla="val 10000" name="adj"/>
              </a:avLst>
            </a:prstGeom>
            <a:blipFill rotWithShape="1">
              <a:blip r:embed="rId4">
                <a:alphaModFix/>
              </a:blip>
              <a:stretch>
                <a:fillRect b="-19998" l="0" r="0" t="-19998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74F5D"/>
                </a:gs>
                <a:gs pos="50000">
                  <a:srgbClr val="072743"/>
                </a:gs>
                <a:gs pos="100000">
                  <a:srgbClr val="03213D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s-CL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Javier Acuña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Char char="•"/>
              </a:pPr>
              <a:r>
                <a:rPr b="0" i="0" lang="es-CL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Desarrollador y Diseñador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Char char="•"/>
              </a:pPr>
              <a:r>
                <a:rPr b="0" i="0" lang="es-CL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Encargado del desarrollo del prototipo y diseño funcional del sistema.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blipFill rotWithShape="1">
              <a:blip r:embed="rId4">
                <a:alphaModFix/>
              </a:blip>
              <a:stretch>
                <a:fillRect b="-19998" l="0" r="0" t="-19998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74F5D"/>
                </a:gs>
                <a:gs pos="50000">
                  <a:srgbClr val="072743"/>
                </a:gs>
                <a:gs pos="100000">
                  <a:srgbClr val="03213D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s-CL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Cristian Castro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Char char="•"/>
              </a:pPr>
              <a:r>
                <a:rPr b="0" i="0" lang="es-CL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DBA y QA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Char char="•"/>
              </a:pPr>
              <a:r>
                <a:rPr b="0" i="0" lang="es-CL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Responsable del modelo de datos, pruebas y control de calidad del proyecto.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blipFill rotWithShape="1">
              <a:blip r:embed="rId4">
                <a:alphaModFix/>
              </a:blip>
              <a:stretch>
                <a:fillRect b="-19998" l="0" r="0" t="-19998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>
            <p:ph type="title"/>
          </p:nvPr>
        </p:nvSpPr>
        <p:spPr>
          <a:xfrm>
            <a:off x="1285240" y="1050596"/>
            <a:ext cx="8074815" cy="847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CL" sz="3600"/>
              <a:t>Índice</a:t>
            </a:r>
            <a:endParaRPr sz="7200"/>
          </a:p>
        </p:txBody>
      </p:sp>
      <p:sp>
        <p:nvSpPr>
          <p:cNvPr id="113" name="Google Shape;113;p3"/>
          <p:cNvSpPr txBox="1"/>
          <p:nvPr>
            <p:ph idx="1" type="body"/>
          </p:nvPr>
        </p:nvSpPr>
        <p:spPr>
          <a:xfrm>
            <a:off x="1286030" y="1601913"/>
            <a:ext cx="3916457" cy="4247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General y Específicos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Alcances y Limitaciones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Metodología de Trabajo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Cronograma del Proyecto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Arquitectura del Software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es-CL" sz="1800">
                <a:latin typeface="Arial"/>
                <a:ea typeface="Arial"/>
                <a:cs typeface="Arial"/>
                <a:sym typeface="Arial"/>
              </a:rPr>
              <a:t>Caso de Uso general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es-CL" sz="1800">
                <a:latin typeface="Arial"/>
                <a:ea typeface="Arial"/>
                <a:cs typeface="Arial"/>
                <a:sym typeface="Arial"/>
              </a:rPr>
              <a:t>Diagrama de componentes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Diagrama de Despliegue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Tecnologías Utilizadas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Demostración del Sistema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Resultados Obtenidos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Obstáculos Encontrados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Preguntas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cuelaIT Duoc UC - Escuela de Informática y Telecomunicaciones Duoc UC - Duoc  UC | LinkedIn"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5099" y="1050596"/>
            <a:ext cx="3389912" cy="847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>
            <p:ph type="title"/>
          </p:nvPr>
        </p:nvSpPr>
        <p:spPr>
          <a:xfrm>
            <a:off x="640080" y="329184"/>
            <a:ext cx="689457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latin typeface="Arial"/>
                <a:ea typeface="Arial"/>
                <a:cs typeface="Arial"/>
                <a:sym typeface="Arial"/>
              </a:rPr>
              <a:t>Descripción del Proyecto</a:t>
            </a:r>
            <a:endParaRPr sz="5400"/>
          </a:p>
        </p:txBody>
      </p:sp>
      <p:sp>
        <p:nvSpPr>
          <p:cNvPr id="121" name="Google Shape;121;p4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640080" y="2706624"/>
            <a:ext cx="6894576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s-CL" sz="2200"/>
              <a:t>LicitApp es una plataforma diseñada para digitalizar y organizar el proceso completo de licitaciones.</a:t>
            </a:r>
            <a:br>
              <a:rPr lang="es-CL" sz="2200"/>
            </a:br>
            <a:r>
              <a:rPr lang="es-CL" sz="2200"/>
              <a:t>Permite centralizar información, roles y documentos en un solo sistema.</a:t>
            </a:r>
            <a:br>
              <a:rPr lang="es-CL" sz="2200"/>
            </a:br>
            <a:r>
              <a:rPr lang="es-CL" sz="2200"/>
              <a:t>Su objetivo es mejorar la trazabilidad, el control y la eficiencia del proceso.</a:t>
            </a:r>
            <a:endParaRPr sz="2200"/>
          </a:p>
        </p:txBody>
      </p:sp>
      <p:pic>
        <p:nvPicPr>
          <p:cNvPr descr="Acuerdo de licitación icono de acuerdo comercial | Vector Premium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4736" y="680743"/>
            <a:ext cx="3429969" cy="3429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24" name="Google Shape;1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4667838"/>
            <a:ext cx="3995928" cy="998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>
            <p:ph type="title"/>
          </p:nvPr>
        </p:nvSpPr>
        <p:spPr>
          <a:xfrm>
            <a:off x="1285241" y="1050596"/>
            <a:ext cx="5790116" cy="104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None/>
            </a:pPr>
            <a:r>
              <a:rPr b="1" lang="es-CL" sz="2800"/>
              <a:t>Objetivo General</a:t>
            </a:r>
            <a:endParaRPr sz="2800"/>
          </a:p>
        </p:txBody>
      </p:sp>
      <p:sp>
        <p:nvSpPr>
          <p:cNvPr id="133" name="Google Shape;133;p5"/>
          <p:cNvSpPr txBox="1"/>
          <p:nvPr>
            <p:ph idx="1" type="body"/>
          </p:nvPr>
        </p:nvSpPr>
        <p:spPr>
          <a:xfrm>
            <a:off x="1285241" y="2091673"/>
            <a:ext cx="4672214" cy="3715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L" sz="2400"/>
              <a:t>Desarrollar una plataforma web que gestione y organice el proceso de licitaciones, mejorando el orden, la trazabilidad y el control interno.</a:t>
            </a:r>
            <a:endParaRPr/>
          </a:p>
        </p:txBody>
      </p:sp>
      <p:pic>
        <p:nvPicPr>
          <p:cNvPr descr="EscuelaIT Duoc UC - Escuela de Informática y Telecomunicaciones Duoc UC - Duoc  UC | LinkedIn"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5099" y="1244195"/>
            <a:ext cx="3389912" cy="8474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5"/>
          <p:cNvCxnSpPr/>
          <p:nvPr/>
        </p:nvCxnSpPr>
        <p:spPr>
          <a:xfrm>
            <a:off x="1285241" y="1870364"/>
            <a:ext cx="4145741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9636" y="4050898"/>
            <a:ext cx="2348724" cy="1909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8632" y="2091673"/>
            <a:ext cx="2348088" cy="3868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>
            <p:ph type="title"/>
          </p:nvPr>
        </p:nvSpPr>
        <p:spPr>
          <a:xfrm>
            <a:off x="838201" y="365125"/>
            <a:ext cx="5354782" cy="12388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CL"/>
              <a:t>Objetivos</a:t>
            </a:r>
            <a:r>
              <a:rPr lang="es-CL" u="sng"/>
              <a:t> </a:t>
            </a:r>
            <a:r>
              <a:rPr lang="es-CL"/>
              <a:t>específicos</a:t>
            </a:r>
            <a:endParaRPr/>
          </a:p>
        </p:txBody>
      </p:sp>
      <p:pic>
        <p:nvPicPr>
          <p:cNvPr descr="EscuelaIT Duoc UC - Escuela de Informática y Telecomunicaciones Duoc UC - Duoc  UC | LinkedIn"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9794" y="560797"/>
            <a:ext cx="3389912" cy="8474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a&#10;&#10;El contenido generado por IA puede ser incorrecto." id="144" name="Google Shape;144;p6"/>
          <p:cNvPicPr preferRelativeResize="0"/>
          <p:nvPr/>
        </p:nvPicPr>
        <p:blipFill rotWithShape="1">
          <a:blip r:embed="rId4">
            <a:alphaModFix/>
          </a:blip>
          <a:srcRect b="6103" l="5184" r="9591" t="12181"/>
          <a:stretch/>
        </p:blipFill>
        <p:spPr>
          <a:xfrm>
            <a:off x="695225" y="1521133"/>
            <a:ext cx="6250900" cy="53368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6"/>
          <p:cNvCxnSpPr/>
          <p:nvPr/>
        </p:nvCxnSpPr>
        <p:spPr>
          <a:xfrm>
            <a:off x="695225" y="1603959"/>
            <a:ext cx="54171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>
            <p:ph type="title"/>
          </p:nvPr>
        </p:nvSpPr>
        <p:spPr>
          <a:xfrm>
            <a:off x="1028936" y="1077846"/>
            <a:ext cx="3459937" cy="65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s-CL" sz="2800"/>
              <a:t>Alcances y Limitaciones</a:t>
            </a:r>
            <a:endParaRPr/>
          </a:p>
        </p:txBody>
      </p:sp>
      <p:pic>
        <p:nvPicPr>
          <p:cNvPr descr="EscuelaIT Duoc UC - Escuela de Informática y Telecomunicaciones Duoc UC - Duoc  UC | LinkedIn"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9417" y="1077846"/>
            <a:ext cx="2638464" cy="659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a&#10;&#10;El contenido generado por IA puede ser incorrecto." id="155" name="Google Shape;155;p7"/>
          <p:cNvPicPr preferRelativeResize="0"/>
          <p:nvPr/>
        </p:nvPicPr>
        <p:blipFill rotWithShape="1">
          <a:blip r:embed="rId4">
            <a:alphaModFix/>
          </a:blip>
          <a:srcRect b="18502" l="6074" r="5592" t="30005"/>
          <a:stretch/>
        </p:blipFill>
        <p:spPr>
          <a:xfrm>
            <a:off x="641774" y="2360737"/>
            <a:ext cx="9291934" cy="24577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7"/>
          <p:cNvCxnSpPr/>
          <p:nvPr/>
        </p:nvCxnSpPr>
        <p:spPr>
          <a:xfrm>
            <a:off x="1028936" y="1737462"/>
            <a:ext cx="359848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5622" y="333286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ala de tiempo&#10;&#10;El contenido generado por IA puede ser incorrecto." id="162" name="Google Shape;162;p8"/>
          <p:cNvPicPr preferRelativeResize="0"/>
          <p:nvPr/>
        </p:nvPicPr>
        <p:blipFill rotWithShape="1">
          <a:blip r:embed="rId4">
            <a:alphaModFix/>
          </a:blip>
          <a:srcRect b="8751" l="0" r="-1661" t="6592"/>
          <a:stretch/>
        </p:blipFill>
        <p:spPr>
          <a:xfrm>
            <a:off x="1704109" y="1385453"/>
            <a:ext cx="8492836" cy="493943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/>
        </p:nvSpPr>
        <p:spPr>
          <a:xfrm>
            <a:off x="834972" y="333286"/>
            <a:ext cx="3459937" cy="6596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Metodología de Trabajo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8"/>
          <p:cNvCxnSpPr/>
          <p:nvPr/>
        </p:nvCxnSpPr>
        <p:spPr>
          <a:xfrm>
            <a:off x="834972" y="1053964"/>
            <a:ext cx="359848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rPr>
              <a:t>* Utilizar cronograma de inicio, indicando el cumplimiento al término del proyecto </a:t>
            </a:r>
            <a:endParaRPr sz="1000">
              <a:solidFill>
                <a:srgbClr val="7474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EF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2" name="Google Shape;17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2088" y="2163458"/>
            <a:ext cx="4547828" cy="4504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cuelaIT Duoc UC - Escuela de Informática y Telecomunicaciones Duoc UC - Duoc  UC | LinkedIn"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9303" y="1119116"/>
            <a:ext cx="8854540" cy="221363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1289304" y="3429000"/>
            <a:ext cx="8921672" cy="17133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6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Arquitectura del Software</a:t>
            </a:r>
            <a:endParaRPr sz="6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Caso de uso General</a:t>
            </a:r>
            <a:endParaRPr sz="6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4450080" y="1850683"/>
            <a:ext cx="3291840" cy="18288"/>
          </a:xfrm>
          <a:custGeom>
            <a:rect b="b" l="l" r="r" t="t"/>
            <a:pathLst>
              <a:path extrusionOk="0" fill="none" h="18288" w="329184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29184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a&#10;&#10;El contenido generado por IA puede ser incorrecto."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207" y="2642616"/>
            <a:ext cx="5484081" cy="3605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90" name="Google Shape;19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4496" y="3743706"/>
            <a:ext cx="5614416" cy="1403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9151575" y="2023100"/>
            <a:ext cx="2586000" cy="28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Diagrama de componentes</a:t>
            </a:r>
            <a:endParaRPr sz="2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7" name="Google Shape;197;p12"/>
          <p:cNvSpPr/>
          <p:nvPr/>
        </p:nvSpPr>
        <p:spPr>
          <a:xfrm rot="-54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cuelaIT Duoc UC - Escuela de Informática y Telecomunicaciones Duoc UC - Duoc  UC | LinkedIn" id="199" name="Google Shape;1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7706" y="3003848"/>
            <a:ext cx="3685032" cy="92125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2"/>
          <p:cNvSpPr/>
          <p:nvPr/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350" y="598900"/>
            <a:ext cx="3789425" cy="566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9267909" y="2023110"/>
            <a:ext cx="2469624" cy="2846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Diagrama de Despliegue</a:t>
            </a:r>
            <a:endParaRPr sz="2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8" name="Google Shape;208;p13"/>
          <p:cNvSpPr/>
          <p:nvPr/>
        </p:nvSpPr>
        <p:spPr>
          <a:xfrm rot="-54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a&#10;&#10;El contenido generado por IA puede ser incorrecto." id="210" name="Google Shape;2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237" y="1620982"/>
            <a:ext cx="4649984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211" name="Google Shape;21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8566" y="3003848"/>
            <a:ext cx="2504172" cy="62604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3"/>
          <p:cNvSpPr/>
          <p:nvPr/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5"/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Diagrama de Base de datos</a:t>
            </a:r>
            <a:endParaRPr sz="4662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4450080" y="1850683"/>
            <a:ext cx="3291840" cy="18288"/>
          </a:xfrm>
          <a:custGeom>
            <a:rect b="b" l="l" r="r" t="t"/>
            <a:pathLst>
              <a:path extrusionOk="0" fill="none" h="18288" w="329184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29184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1" y="2097300"/>
            <a:ext cx="7636989" cy="4754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221" name="Google Shape;2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15108" y="3743706"/>
            <a:ext cx="2353804" cy="58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Tecnologías utilizadas</a:t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4450080" y="1850683"/>
            <a:ext cx="3291840" cy="18288"/>
          </a:xfrm>
          <a:custGeom>
            <a:rect b="b" l="l" r="r" t="t"/>
            <a:pathLst>
              <a:path extrusionOk="0" fill="none" h="18288" w="329184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29184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39" y="2653571"/>
            <a:ext cx="7819619" cy="2795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230" name="Google Shape;2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5892" y="3743706"/>
            <a:ext cx="3553020" cy="888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638882" y="3577456"/>
            <a:ext cx="10909640" cy="16878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DEMOSTRACIÓN DEL SISTEMA</a:t>
            </a:r>
            <a:endParaRPr/>
          </a:p>
        </p:txBody>
      </p:sp>
      <p:pic>
        <p:nvPicPr>
          <p:cNvPr descr="EscuelaIT Duoc UC - Escuela de Informática y Telecomunicaciones Duoc UC - Duoc  UC | LinkedIn"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908" y="1157723"/>
            <a:ext cx="6439588" cy="160989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/>
          <p:nvPr/>
        </p:nvSpPr>
        <p:spPr>
          <a:xfrm>
            <a:off x="3807702" y="5509052"/>
            <a:ext cx="4572000" cy="18288"/>
          </a:xfrm>
          <a:custGeom>
            <a:rect b="b" l="l" r="r" t="t"/>
            <a:pathLst>
              <a:path extrusionOk="0" fill="none" h="18288" w="457200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57200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Resultados obtenidos</a:t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4450080" y="1850683"/>
            <a:ext cx="3291840" cy="18288"/>
          </a:xfrm>
          <a:custGeom>
            <a:rect b="b" l="l" r="r" t="t"/>
            <a:pathLst>
              <a:path extrusionOk="0" fill="none" h="18288" w="329184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29184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78547"/>
            <a:ext cx="5614416" cy="3333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247" name="Google Shape;24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4496" y="3743706"/>
            <a:ext cx="5614416" cy="1403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Obstáculos Encontrados</a:t>
            </a:r>
            <a:endParaRPr sz="4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4450080" y="1850683"/>
            <a:ext cx="3291840" cy="18288"/>
          </a:xfrm>
          <a:custGeom>
            <a:rect b="b" l="l" r="r" t="t"/>
            <a:pathLst>
              <a:path extrusionOk="0" fill="none" h="18288" w="329184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29184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a, Escala de tiempo&#10;&#10;El contenido generado por IA puede ser incorrecto." id="255" name="Google Shape;255;p20"/>
          <p:cNvPicPr preferRelativeResize="0"/>
          <p:nvPr/>
        </p:nvPicPr>
        <p:blipFill rotWithShape="1">
          <a:blip r:embed="rId3">
            <a:alphaModFix/>
          </a:blip>
          <a:srcRect b="5152" l="26950" r="31516" t="21468"/>
          <a:stretch/>
        </p:blipFill>
        <p:spPr>
          <a:xfrm>
            <a:off x="439151" y="2003188"/>
            <a:ext cx="4492613" cy="4720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256" name="Google Shape;25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8433" y="3429000"/>
            <a:ext cx="5614416" cy="1403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638882" y="3577456"/>
            <a:ext cx="10909640" cy="16878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PREGUNTAS DE LA COMISIÓN</a:t>
            </a:r>
            <a:endParaRPr/>
          </a:p>
        </p:txBody>
      </p:sp>
      <p:pic>
        <p:nvPicPr>
          <p:cNvPr descr="EscuelaIT Duoc UC - Escuela de Informática y Telecomunicaciones Duoc UC - Duoc  UC | LinkedIn" id="263" name="Google Shape;2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908" y="1157723"/>
            <a:ext cx="6439588" cy="1609897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/>
          <p:nvPr/>
        </p:nvSpPr>
        <p:spPr>
          <a:xfrm>
            <a:off x="3807702" y="5509052"/>
            <a:ext cx="4572000" cy="18288"/>
          </a:xfrm>
          <a:custGeom>
            <a:rect b="b" l="l" r="r" t="t"/>
            <a:pathLst>
              <a:path extrusionOk="0" fill="none" h="18288" w="457200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57200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