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qHDSrV3F516iKKgRGKzPhwkwS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360875" y="1173479"/>
            <a:ext cx="9144000" cy="18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CL"/>
              <a:t>Capstone</a:t>
            </a:r>
            <a:br>
              <a:rPr lang="es-CL"/>
            </a:br>
            <a:r>
              <a:rPr lang="es-CL" sz="3200"/>
              <a:t>“LicitApp”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279654"/>
            <a:ext cx="9144000" cy="2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Docente Instructor de la Asignatura: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Fabian Saldaño</a:t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Integrantes del Equipo: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Isaí Villalobos</a:t>
            </a:r>
            <a:br>
              <a:rPr lang="es-CL" sz="1400"/>
            </a:br>
            <a:r>
              <a:rPr lang="es-CL" sz="1400"/>
              <a:t>Javier Acuña</a:t>
            </a:r>
            <a:br>
              <a:rPr lang="es-CL" sz="1400"/>
            </a:br>
            <a:r>
              <a:rPr lang="es-CL" sz="1400"/>
              <a:t>Cristian Castro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725659" y="11107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Problemática a Resolver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866225" y="2436275"/>
            <a:ext cx="5696100" cy="39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Breve Resumen del Caso:</a:t>
            </a:r>
            <a:b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LicitApp busca digitalizar el proceso de licitaciones entre empresas, permitiendo que organizaciones publiquen diversas licitaciones y otras postulen a ellas. Esta problemática es común en entornos B2B (business to business) donde la gestión manual de licitaciones genera ineficiencias. El proyecto impacta directamente a empresas proveedoras y compradoras, especialmente en sectores industriales y de servicios. Se sitúa en Chile, con potencial de expansión regional. Su aporte es mejorar la transparencia, trazabilidad y eficiencia de los procesos de compra corporativa.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5925" y="2934600"/>
            <a:ext cx="2625525" cy="263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206075" y="1042600"/>
            <a:ext cx="11827800" cy="54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s-CL" sz="2400"/>
              <a:t>Solución</a:t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s-CL" sz="1800"/>
              <a:t>Descripción de la Solución y Propuesta de Valor</a:t>
            </a:r>
            <a:endParaRPr sz="3959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s-CL" sz="1400">
                <a:latin typeface="Arial"/>
                <a:ea typeface="Arial"/>
                <a:cs typeface="Arial"/>
                <a:sym typeface="Arial"/>
              </a:rPr>
              <a:t>La solución propuesta por </a:t>
            </a:r>
            <a:r>
              <a:rPr i="1" lang="es-CL" sz="1400">
                <a:latin typeface="Arial"/>
                <a:ea typeface="Arial"/>
                <a:cs typeface="Arial"/>
                <a:sym typeface="Arial"/>
              </a:rPr>
              <a:t>LicitApp</a:t>
            </a:r>
            <a:r>
              <a:rPr lang="es-CL" sz="1400">
                <a:latin typeface="Arial"/>
                <a:ea typeface="Arial"/>
                <a:cs typeface="Arial"/>
                <a:sym typeface="Arial"/>
              </a:rPr>
              <a:t> abarca el desarrollo de una </a:t>
            </a:r>
            <a:r>
              <a:rPr b="1" lang="es-CL" sz="1400">
                <a:latin typeface="Arial"/>
                <a:ea typeface="Arial"/>
                <a:cs typeface="Arial"/>
                <a:sym typeface="Arial"/>
              </a:rPr>
              <a:t>plataforma web multiusuario</a:t>
            </a:r>
            <a:r>
              <a:rPr lang="es-CL" sz="1400">
                <a:latin typeface="Arial"/>
                <a:ea typeface="Arial"/>
                <a:cs typeface="Arial"/>
                <a:sym typeface="Arial"/>
              </a:rPr>
              <a:t> que permite: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CL" sz="1400">
                <a:latin typeface="Arial"/>
                <a:ea typeface="Arial"/>
                <a:cs typeface="Arial"/>
                <a:sym typeface="Arial"/>
              </a:rPr>
              <a:t>A empresas </a:t>
            </a:r>
            <a:r>
              <a:rPr b="1" lang="es-CL" sz="1400">
                <a:latin typeface="Arial"/>
                <a:ea typeface="Arial"/>
                <a:cs typeface="Arial"/>
                <a:sym typeface="Arial"/>
              </a:rPr>
              <a:t>compradoras</a:t>
            </a:r>
            <a:r>
              <a:rPr lang="es-CL" sz="1400">
                <a:latin typeface="Arial"/>
                <a:ea typeface="Arial"/>
                <a:cs typeface="Arial"/>
                <a:sym typeface="Arial"/>
              </a:rPr>
              <a:t> publicar licitaciones de productos o servicios.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CL" sz="1400">
                <a:latin typeface="Arial"/>
                <a:ea typeface="Arial"/>
                <a:cs typeface="Arial"/>
                <a:sym typeface="Arial"/>
              </a:rPr>
              <a:t>A empresas </a:t>
            </a:r>
            <a:r>
              <a:rPr b="1" lang="es-CL" sz="1400">
                <a:latin typeface="Arial"/>
                <a:ea typeface="Arial"/>
                <a:cs typeface="Arial"/>
                <a:sym typeface="Arial"/>
              </a:rPr>
              <a:t>proveedoras</a:t>
            </a:r>
            <a:r>
              <a:rPr lang="es-CL" sz="1400">
                <a:latin typeface="Arial"/>
                <a:ea typeface="Arial"/>
                <a:cs typeface="Arial"/>
                <a:sym typeface="Arial"/>
              </a:rPr>
              <a:t> postular a dichas licitaciones de forma digital.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CL" sz="1400">
                <a:latin typeface="Arial"/>
                <a:ea typeface="Arial"/>
                <a:cs typeface="Arial"/>
                <a:sym typeface="Arial"/>
              </a:rPr>
              <a:t>Gestionar el ciclo completo de licitación: publicación, postulación, evaluación, adjudicación y seguimiento.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CL" sz="1400">
                <a:latin typeface="Arial"/>
                <a:ea typeface="Arial"/>
                <a:cs typeface="Arial"/>
                <a:sym typeface="Arial"/>
              </a:rPr>
              <a:t>Incorporar trazabilidad de cada proceso, historial de interacciones y documentación asociada.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CL" sz="1400">
                <a:latin typeface="Arial"/>
                <a:ea typeface="Arial"/>
                <a:cs typeface="Arial"/>
                <a:sym typeface="Arial"/>
              </a:rPr>
              <a:t>Generar reportes y métricas clave (KPI) para apoyar la toma de decisiones.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CL" sz="1400">
                <a:latin typeface="Arial"/>
                <a:ea typeface="Arial"/>
                <a:cs typeface="Arial"/>
                <a:sym typeface="Arial"/>
              </a:rPr>
              <a:t>Escalabilidad para adaptarse a distintos sectores industriales y de servicios, con proyección regional.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400">
                <a:latin typeface="Arial"/>
                <a:ea typeface="Arial"/>
                <a:cs typeface="Arial"/>
                <a:sym typeface="Arial"/>
              </a:rPr>
              <a:t>La propuesta de valor de </a:t>
            </a:r>
            <a:r>
              <a:rPr i="1" lang="es-CL" sz="1400">
                <a:latin typeface="Arial"/>
                <a:ea typeface="Arial"/>
                <a:cs typeface="Arial"/>
                <a:sym typeface="Arial"/>
              </a:rPr>
              <a:t>LicitApp</a:t>
            </a:r>
            <a:r>
              <a:rPr lang="es-CL" sz="1400">
                <a:latin typeface="Arial"/>
                <a:ea typeface="Arial"/>
                <a:cs typeface="Arial"/>
                <a:sym typeface="Arial"/>
              </a:rPr>
              <a:t> se centra en: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s-CL" sz="1400">
                <a:latin typeface="Arial"/>
                <a:ea typeface="Arial"/>
                <a:cs typeface="Arial"/>
                <a:sym typeface="Arial"/>
              </a:rPr>
              <a:t>Digitalizar y automatizar</a:t>
            </a:r>
            <a:r>
              <a:rPr lang="es-CL" sz="1400">
                <a:latin typeface="Arial"/>
                <a:ea typeface="Arial"/>
                <a:cs typeface="Arial"/>
                <a:sym typeface="Arial"/>
              </a:rPr>
              <a:t> un proceso que tradicionalmente se realiza de forma manual, reduciendo tiempos y errores.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s-CL" sz="1400">
                <a:latin typeface="Arial"/>
                <a:ea typeface="Arial"/>
                <a:cs typeface="Arial"/>
                <a:sym typeface="Arial"/>
              </a:rPr>
              <a:t>Mejorar la transparencia y trazabilidad</a:t>
            </a:r>
            <a:r>
              <a:rPr lang="es-CL" sz="1400">
                <a:latin typeface="Arial"/>
                <a:ea typeface="Arial"/>
                <a:cs typeface="Arial"/>
                <a:sym typeface="Arial"/>
              </a:rPr>
              <a:t>, permitiendo a las empresas tener control y visibilidad sobre sus procesos de compra.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s-CL" sz="1400">
                <a:latin typeface="Arial"/>
                <a:ea typeface="Arial"/>
                <a:cs typeface="Arial"/>
                <a:sym typeface="Arial"/>
              </a:rPr>
              <a:t>Facilitar la conexión entre empresas</a:t>
            </a:r>
            <a:r>
              <a:rPr lang="es-CL" sz="1400">
                <a:latin typeface="Arial"/>
                <a:ea typeface="Arial"/>
                <a:cs typeface="Arial"/>
                <a:sym typeface="Arial"/>
              </a:rPr>
              <a:t>, promoviendo oportunidades comerciales en entornos B2B.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s-CL" sz="1400">
                <a:latin typeface="Arial"/>
                <a:ea typeface="Arial"/>
                <a:cs typeface="Arial"/>
                <a:sym typeface="Arial"/>
              </a:rPr>
              <a:t>Optimizar la eficiencia operativa</a:t>
            </a:r>
            <a:r>
              <a:rPr lang="es-CL" sz="1400">
                <a:latin typeface="Arial"/>
                <a:ea typeface="Arial"/>
                <a:cs typeface="Arial"/>
                <a:sym typeface="Arial"/>
              </a:rPr>
              <a:t>, reduciendo costos administrativos y mejorando la gestión documental.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s-CL" sz="1400">
                <a:latin typeface="Arial"/>
                <a:ea typeface="Arial"/>
                <a:cs typeface="Arial"/>
                <a:sym typeface="Arial"/>
              </a:rPr>
              <a:t>Adaptabilidad y escalabilidad</a:t>
            </a:r>
            <a:r>
              <a:rPr lang="es-CL" sz="1400">
                <a:latin typeface="Arial"/>
                <a:ea typeface="Arial"/>
                <a:cs typeface="Arial"/>
                <a:sym typeface="Arial"/>
              </a:rPr>
              <a:t>, permitiendo que la solución se pueda </a:t>
            </a:r>
            <a:r>
              <a:rPr lang="es-CL" sz="1400">
                <a:latin typeface="Arial"/>
                <a:ea typeface="Arial"/>
                <a:cs typeface="Arial"/>
                <a:sym typeface="Arial"/>
              </a:rPr>
              <a:t>implementar</a:t>
            </a:r>
            <a:r>
              <a:rPr lang="es-CL" sz="1400">
                <a:latin typeface="Arial"/>
                <a:ea typeface="Arial"/>
                <a:cs typeface="Arial"/>
                <a:sym typeface="Arial"/>
              </a:rPr>
              <a:t> en distintos rubros y regiones.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2400">
                <a:latin typeface="Arial"/>
                <a:ea typeface="Arial"/>
                <a:cs typeface="Arial"/>
                <a:sym typeface="Arial"/>
              </a:rPr>
              <a:t>                                                </a:t>
            </a:r>
            <a:r>
              <a:rPr lang="es-CL" sz="2400">
                <a:latin typeface="Arial"/>
                <a:ea typeface="Arial"/>
                <a:cs typeface="Arial"/>
                <a:sym typeface="Arial"/>
              </a:rPr>
              <a:t>Objetivo del Proyecto</a:t>
            </a:r>
            <a:br>
              <a:rPr lang="es-CL" sz="2400">
                <a:latin typeface="Arial"/>
                <a:ea typeface="Arial"/>
                <a:cs typeface="Arial"/>
                <a:sym typeface="Arial"/>
              </a:rPr>
            </a:br>
            <a:r>
              <a:rPr lang="es-CL" sz="2400">
                <a:latin typeface="Arial"/>
                <a:ea typeface="Arial"/>
                <a:cs typeface="Arial"/>
                <a:sym typeface="Arial"/>
              </a:rPr>
              <a:t>                                     </a:t>
            </a:r>
            <a:r>
              <a:rPr lang="es-CL" sz="1800">
                <a:latin typeface="Arial"/>
                <a:ea typeface="Arial"/>
                <a:cs typeface="Arial"/>
                <a:sym typeface="Arial"/>
              </a:rPr>
              <a:t>Qué se Desarrolló como Producto de software.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-CL" sz="1400">
                <a:latin typeface="Arial"/>
                <a:ea typeface="Arial"/>
                <a:cs typeface="Arial"/>
                <a:sym typeface="Arial"/>
              </a:rPr>
              <a:t>Desarrollar una plataforma digital multiusuario llamada LicitApp que permita a empresas publicar y postular a licitaciones de manera eficiente, transparente y trazable, optimizando los procesos de compra corporativa en entornos B2B en Chile, con proyección regional</a:t>
            </a:r>
            <a:r>
              <a:rPr lang="es-CL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3959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/>
        </p:nvSpPr>
        <p:spPr>
          <a:xfrm>
            <a:off x="274775" y="1396800"/>
            <a:ext cx="11632200" cy="52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</a:rPr>
              <a:t>Que hace el Sistema:</a:t>
            </a:r>
            <a:endParaRPr b="1" i="0" sz="1800" u="none" cap="none" strike="noStrike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Permite a empresas </a:t>
            </a:r>
            <a:r>
              <a:rPr b="1" lang="es-CL">
                <a:solidFill>
                  <a:schemeClr val="dk1"/>
                </a:solidFill>
              </a:rPr>
              <a:t>compradoras</a:t>
            </a:r>
            <a:r>
              <a:rPr lang="es-CL">
                <a:solidFill>
                  <a:schemeClr val="dk1"/>
                </a:solidFill>
              </a:rPr>
              <a:t> publicar licitaciones de productos o servicios.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Permite a empresas </a:t>
            </a:r>
            <a:r>
              <a:rPr b="1" lang="es-CL">
                <a:solidFill>
                  <a:schemeClr val="dk1"/>
                </a:solidFill>
              </a:rPr>
              <a:t>proveedoras</a:t>
            </a:r>
            <a:r>
              <a:rPr lang="es-CL">
                <a:solidFill>
                  <a:schemeClr val="dk1"/>
                </a:solidFill>
              </a:rPr>
              <a:t> postular a licitaciones activas.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Gestiona el ciclo completo de licitación: publicación, postulación, evaluación y adjudicación.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Ofrece trazabilidad de cada proceso, con historial de interacciones.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Genera reportes y métricas clave (KPI) para apoyar la toma de decisiones.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Centraliza la documentación asociada a cada licitación.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Facilita la comunicación entre compradores y proveedores dentro de la plataforma.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</a:rPr>
              <a:t>Qué no hace:</a:t>
            </a:r>
            <a:endParaRPr b="1" i="0" sz="18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No realiza pagos ni gestiona transacciones financieras entre empresas.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No valida legalmente contratos ni documentos externos.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No integra sistemas externos de licitación pública (como ChileCompra).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No incluye funcionalidades de inteligencia artificial avanzada (por ahora).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No contempla perfiles de usuario ciudadano o consumidor final (solo empresas).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</a:rPr>
              <a:t>Otros Alcances o restricciones: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El sistema está diseñado para entornos </a:t>
            </a:r>
            <a:r>
              <a:rPr b="1" lang="es-CL">
                <a:solidFill>
                  <a:schemeClr val="dk1"/>
                </a:solidFill>
              </a:rPr>
              <a:t>B2B</a:t>
            </a:r>
            <a:r>
              <a:rPr lang="es-CL">
                <a:solidFill>
                  <a:schemeClr val="dk1"/>
                </a:solidFill>
              </a:rPr>
              <a:t>, no para licitaciones gubernamentales.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La primera versión se enfoca en funcionalidades esenciales; módulos como minería de datos y dashboards avanzados se consideran para futuras versiones.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Requiere conexión a internet y navegador moderno para su uso.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La plataforma está pensada para operar inicialmente en </a:t>
            </a:r>
            <a:r>
              <a:rPr b="1" lang="es-CL">
                <a:solidFill>
                  <a:schemeClr val="dk1"/>
                </a:solidFill>
              </a:rPr>
              <a:t>Chile</a:t>
            </a:r>
            <a:r>
              <a:rPr lang="es-CL">
                <a:solidFill>
                  <a:schemeClr val="dk1"/>
                </a:solidFill>
              </a:rPr>
              <a:t>, con posibilidad de expansión regional.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El sistema no contempla integración con sistemas ERP o CRM en esta etapa.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>
            <p:ph type="title"/>
          </p:nvPr>
        </p:nvSpPr>
        <p:spPr>
          <a:xfrm>
            <a:off x="274765" y="19119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516886" y="599143"/>
            <a:ext cx="10515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206675" y="1358150"/>
            <a:ext cx="4404900" cy="7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Funcionales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Autenticación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Inicio y cierre de sesión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Registro de usuarios (nombre, correo, rol).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Licitaciones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Listar y detallar licitaciones activas.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Subir ofertas y descargar bases.</a:t>
            </a:r>
            <a:br>
              <a:rPr lang="es-CL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Mostrar indicadores de cumplimiento y adjudicación.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Documentos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Subir, aprobar u observar documentos.</a:t>
            </a:r>
            <a:br>
              <a:rPr lang="es-CL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Filtrar por nombre o estado.</a:t>
            </a:r>
            <a:br>
              <a:rPr lang="es-CL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Exportar listado en CSV o PDF.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Reportes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Gráficos y KPI (plazos, documentos, licitaciones).</a:t>
            </a:r>
            <a:br>
              <a:rPr lang="es-CL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Filtros por rubro y fecha.</a:t>
            </a:r>
            <a:br>
              <a:rPr lang="es-CL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Exportar reportes en PDF.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Administrador</a:t>
            </a:r>
            <a:br>
              <a:rPr lang="es-CL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Crear, editar y suspender usuarios.</a:t>
            </a:r>
            <a:br>
              <a:rPr lang="es-CL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Asignar roles y políticas de seguridad (2FA, contraseñas).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Configurar alertas (SLA) y ver auditoría.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Ayuda</a:t>
            </a:r>
            <a:br>
              <a:rPr lang="es-CL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Búsqueda de artículos y FAQs.</a:t>
            </a:r>
            <a:br>
              <a:rPr lang="es-CL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Envío de tickets de soporte.</a:t>
            </a:r>
            <a:br>
              <a:rPr lang="es-CL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Estado del sistema y tour guiado.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7430175" y="1358150"/>
            <a:ext cx="4404900" cy="53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No funcionales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Usabilidad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Interfaz intuitiva, responsive y fácil de usar.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Rendimiento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Carga rápida (&lt;3 s) y respuesta ágil en filtros.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Seguridad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Contraseñas cifradas, sesión segura y 2FA.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Mantenibilidad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Código modular, configurable y escalable.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Compatibilidad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Soporte para navegadores modernos y móviles.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641252" y="1068511"/>
            <a:ext cx="10515600" cy="729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584001" y="2112097"/>
            <a:ext cx="2907900" cy="43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1900" y="1873325"/>
            <a:ext cx="7785451" cy="48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type="title"/>
          </p:nvPr>
        </p:nvSpPr>
        <p:spPr>
          <a:xfrm>
            <a:off x="641252" y="1068511"/>
            <a:ext cx="10515600" cy="882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pic>
        <p:nvPicPr>
          <p:cNvPr id="123" name="Google Shape;12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150" y="1940625"/>
            <a:ext cx="5961300" cy="297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1775" y="3390546"/>
            <a:ext cx="5563052" cy="2743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641252" y="951625"/>
            <a:ext cx="10515600" cy="92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641250" y="2155275"/>
            <a:ext cx="3262800" cy="4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Caso uso: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a&#10;&#10;El contenido generado por IA puede ser incorrecto." id="131" name="Google Shape;13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2775" y="1874525"/>
            <a:ext cx="7208283" cy="4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/>
        </p:nvSpPr>
        <p:spPr>
          <a:xfrm>
            <a:off x="641248" y="2394076"/>
            <a:ext cx="11346000" cy="4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Backend :Lenguaje principal:</a:t>
            </a:r>
            <a:r>
              <a:rPr lang="es-CL" sz="1100">
                <a:solidFill>
                  <a:schemeClr val="dk1"/>
                </a:solidFill>
              </a:rPr>
              <a:t> Python, </a:t>
            </a:r>
            <a:r>
              <a:rPr b="1" lang="es-CL" sz="1100">
                <a:solidFill>
                  <a:schemeClr val="dk1"/>
                </a:solidFill>
              </a:rPr>
              <a:t>Framework:</a:t>
            </a:r>
            <a:r>
              <a:rPr lang="es-CL" sz="1100">
                <a:solidFill>
                  <a:schemeClr val="dk1"/>
                </a:solidFill>
              </a:rPr>
              <a:t> Django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</a:rPr>
              <a:t>Elegido por su estructura basada en el patrón </a:t>
            </a:r>
            <a:r>
              <a:rPr b="1" lang="es-CL" sz="1100">
                <a:solidFill>
                  <a:schemeClr val="dk1"/>
                </a:solidFill>
              </a:rPr>
              <a:t>MVC (Modelo-Vista-Controlador)</a:t>
            </a:r>
            <a:r>
              <a:rPr lang="es-CL" sz="1100">
                <a:solidFill>
                  <a:schemeClr val="dk1"/>
                </a:solidFill>
              </a:rPr>
              <a:t>, que facilita la modularidad, mantenibilidad y seguridad del sistema. Permite una rápida construcción de aplicaciones web escalables y seguras.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Frontend: Framework de interfaz:</a:t>
            </a:r>
            <a:r>
              <a:rPr lang="es-CL" sz="1100">
                <a:solidFill>
                  <a:schemeClr val="dk1"/>
                </a:solidFill>
              </a:rPr>
              <a:t> React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</a:rPr>
              <a:t>Utilizado para construir una interfaz de usuario dinámica, responsiva y adaptable a distintos perfiles. Facilita la separación entre lógica de negocio y presentación.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Base de datos: Motor principal:</a:t>
            </a:r>
            <a:r>
              <a:rPr lang="es-CL" sz="1100">
                <a:solidFill>
                  <a:schemeClr val="dk1"/>
                </a:solidFill>
              </a:rPr>
              <a:t> PostgreSQL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</a:rPr>
              <a:t>Seleccionado por su estabilidad, compatibilidad multiplataforma y uso de software libre. Soporta estructuras relacionales complejas y consultas eficientes.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Inteligencia de Negocios: Herramientas contempladas:</a:t>
            </a:r>
            <a:r>
              <a:rPr lang="es-CL" sz="1100">
                <a:solidFill>
                  <a:schemeClr val="dk1"/>
                </a:solidFill>
              </a:rPr>
              <a:t> Power BI o Looker Studio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</a:rPr>
              <a:t>Utilizadas para la generación de dashboards e indicadores clave (KPI). Permiten visualizar métricas operativas y predictivas en tiempo real.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Seguridad: </a:t>
            </a:r>
            <a:r>
              <a:rPr lang="es-CL" sz="1100">
                <a:solidFill>
                  <a:schemeClr val="dk1"/>
                </a:solidFill>
              </a:rPr>
              <a:t>Autenticación por roles y cifrado de credenciales. Validación de documentos contra archivos maliciosos. Control de acceso por permisos definidos en el sistema.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Infraestructura: Tipo:</a:t>
            </a:r>
            <a:r>
              <a:rPr lang="es-CL" sz="1100">
                <a:solidFill>
                  <a:schemeClr val="dk1"/>
                </a:solidFill>
              </a:rPr>
              <a:t> On-premise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</a:rPr>
              <a:t>El sistema se desplegará en infraestructura local, sin depender de servicios externos o licencias propietarias.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 txBox="1"/>
          <p:nvPr>
            <p:ph type="title"/>
          </p:nvPr>
        </p:nvSpPr>
        <p:spPr>
          <a:xfrm>
            <a:off x="641252" y="10685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/>
        </p:nvSpPr>
        <p:spPr>
          <a:xfrm>
            <a:off x="538125" y="948200"/>
            <a:ext cx="3114000" cy="48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CL" sz="1200"/>
              <a:t>Sprint 1</a:t>
            </a:r>
            <a:endParaRPr b="1" i="1" sz="1200"/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b="1" i="1" lang="es-CL" sz="1200"/>
              <a:t>01/09 – 13/10</a:t>
            </a:r>
            <a:endParaRPr b="1" i="1" sz="1200"/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i="1" lang="es-CL" sz="1200"/>
              <a:t>Definición del proyecto, levantamiento de requerimientos, mockups, arquitectura.</a:t>
            </a:r>
            <a:endParaRPr b="1" i="1" sz="12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CL" sz="1200"/>
              <a:t>Sprint 2</a:t>
            </a:r>
            <a:endParaRPr b="1" i="1" sz="1200"/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b="1" i="1" lang="es-CL" sz="1200"/>
              <a:t>14/10 – 18/11</a:t>
            </a:r>
            <a:endParaRPr b="1" i="1" sz="1200"/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i="1" lang="es-CL" sz="1200"/>
              <a:t>Desarrollo de módulos principales, integración, pruebas iniciales</a:t>
            </a:r>
            <a:endParaRPr b="1" i="1" sz="12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CL" sz="1200"/>
              <a:t>Sprint 3</a:t>
            </a:r>
            <a:endParaRPr b="1" i="1" sz="1200"/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b="1" i="1" lang="es-CL" sz="1200"/>
              <a:t>19/11 – 09/12</a:t>
            </a:r>
            <a:endParaRPr b="1" i="1" sz="1200"/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i="1" lang="es-CL" sz="1200"/>
              <a:t>Pruebas finales, documentación, presentación, cierre del proyecto</a:t>
            </a:r>
            <a:b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0"/>
          <p:cNvSpPr txBox="1"/>
          <p:nvPr>
            <p:ph type="title"/>
          </p:nvPr>
        </p:nvSpPr>
        <p:spPr>
          <a:xfrm>
            <a:off x="4224700" y="1062700"/>
            <a:ext cx="7819800" cy="57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2400"/>
              <a:t>Estimación de Riesgos</a:t>
            </a:r>
            <a:br>
              <a:rPr lang="es-CL" sz="2400"/>
            </a:br>
            <a:endParaRPr sz="2400"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L" sz="1400"/>
              <a:t>Retrasos por carga academica o laboral (Prob: Alta, Imp: Alta, Plan: Reorganizar tareas por prioridad, usar sprints cortos y flexibles).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L" sz="1400"/>
              <a:t> Dificultad técnica en integración de módulos </a:t>
            </a:r>
            <a:r>
              <a:rPr lang="es-CL" sz="1400"/>
              <a:t>(Prob: Media, Imp: Alta, Plan: Buscar apoyo técnico, usar documentación oficial, dividir tareas complejas).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L" sz="1400"/>
              <a:t>Falta de acceso a datos reales de licitaciones (Prob: Alta, Imp: Media, Plan: Utilizar datos simulados para pruebas, buscar fuentes públicas).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L" sz="1400"/>
              <a:t>Cambios en requerimientos ((Prob: Media, Imp: Media, Plan: Aplicar metodología ágil para adaptarse en cada sprint).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L" sz="1400"/>
              <a:t>Problemas en la presentación final ((Prob: Baja, Imp: Baja, Plan: Preparar presentación con anticipación, realizar ensayos).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L" sz="1400"/>
              <a:t>Fallas técnicas en el sistema ((Prob: Media, Imp: Alta, Plan: Implementar pruebas automatizadas, revisión continua del código).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L" sz="1400"/>
              <a:t>Dificultad para cumplir con requisitos de minería de datos ((Prob: Media, Imp: Media, Plan: Ajustar el alcance, usar datos simulados y algoritmos básicos).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  <p:pic>
        <p:nvPicPr>
          <p:cNvPr id="149" name="Google Shape;14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328545"/>
            <a:ext cx="9004500" cy="30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type="title"/>
          </p:nvPr>
        </p:nvSpPr>
        <p:spPr>
          <a:xfrm>
            <a:off x="4814350" y="2392064"/>
            <a:ext cx="214438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Fabian Saldaño</dc:creator>
</cp:coreProperties>
</file>